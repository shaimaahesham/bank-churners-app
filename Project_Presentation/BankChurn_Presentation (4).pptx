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AD-4065-AC38-ED9C977739A6}"/>
              </c:ext>
            </c:extLst>
          </c:dPt>
          <c:dPt>
            <c:idx val="1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AD-4065-AC38-ED9C977739A6}"/>
              </c:ext>
            </c:extLst>
          </c:dPt>
          <c:cat>
            <c:strRef>
              <c:f>Sheet1!$A$2:$A$3</c:f>
              <c:strCache>
                <c:ptCount val="2"/>
                <c:pt idx="0">
                  <c:v>Existing (83.9%)</c:v>
                </c:pt>
                <c:pt idx="1">
                  <c:v>Attrited (16.1%)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</c:v>
                </c:pt>
                <c:pt idx="1">
                  <c:v>1627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AD-4065-AC38-ED9C97773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 mo</c:v>
                </c:pt>
                <c:pt idx="1">
                  <c:v>1 mo</c:v>
                </c:pt>
                <c:pt idx="2">
                  <c:v>2 mo</c:v>
                </c:pt>
                <c:pt idx="3">
                  <c:v>3 mo</c:v>
                </c:pt>
                <c:pt idx="4">
                  <c:v>4 mo</c:v>
                </c:pt>
                <c:pt idx="5">
                  <c:v>5 mo</c:v>
                </c:pt>
                <c:pt idx="6">
                  <c:v>6 mo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51.7</c:v>
                </c:pt>
                <c:pt idx="1">
                  <c:v>4.5</c:v>
                </c:pt>
                <c:pt idx="2">
                  <c:v>15.4</c:v>
                </c:pt>
                <c:pt idx="3">
                  <c:v>21.5</c:v>
                </c:pt>
                <c:pt idx="4">
                  <c:v>29.9</c:v>
                </c:pt>
                <c:pt idx="5">
                  <c:v>18</c:v>
                </c:pt>
                <c:pt idx="6">
                  <c:v>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7A-47E2-A0E2-8A1A771B35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25.6</c:v>
                </c:pt>
                <c:pt idx="1">
                  <c:v>27.8</c:v>
                </c:pt>
                <c:pt idx="2">
                  <c:v>17.399999999999999</c:v>
                </c:pt>
                <c:pt idx="3">
                  <c:v>11.8</c:v>
                </c:pt>
                <c:pt idx="4">
                  <c:v>12</c:v>
                </c:pt>
                <c:pt idx="5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84-4822-A6E3-E183E246DC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Trans Ct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6A-45A0-AC95-A03EEEA52BB9}"/>
              </c:ext>
            </c:extLst>
          </c:dPt>
          <c:dPt>
            <c:idx val="1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6A-45A0-AC95-A03EEEA52B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Attrited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44.3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6A-45A0-AC95-A03EEEA52B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71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822960" cy="82296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2801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28600" y="19659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2860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· Machine Learning Prediction · Actionable Recommendations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3310128"/>
            <a:ext cx="41148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Dataset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Churners — Kaggle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3291840"/>
            <a:ext cx="2011680" cy="201168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0" y="3657600"/>
            <a:ext cx="1280160" cy="1280160"/>
          </a:xfrm>
          <a:prstGeom prst="ellipse">
            <a:avLst/>
          </a:prstGeom>
          <a:solidFill>
            <a:srgbClr val="2EC4B6">
              <a:alpha val="45000"/>
            </a:srgbClr>
          </a:solidFill>
          <a:ln w="12700">
            <a:solidFill>
              <a:srgbClr val="2EC4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548640"/>
            <a:ext cx="2560320" cy="2560320"/>
          </a:xfrm>
          <a:prstGeom prst="ellipse">
            <a:avLst/>
          </a:prstGeom>
          <a:solidFill>
            <a:srgbClr val="E84855">
              <a:alpha val="25000"/>
            </a:srgbClr>
          </a:solidFill>
          <a:ln w="12700">
            <a:solidFill>
              <a:srgbClr val="E8485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371600"/>
          </a:xfrm>
          <a:prstGeom prst="rect">
            <a:avLst/>
          </a:prstGeom>
          <a:solidFill>
            <a:srgbClr val="E84855">
              <a:alpha val="15000"/>
            </a:srgbClr>
          </a:solidFill>
          <a:ln w="1905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64008" cy="13716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is experiencing rising customer churn in its credit card division. Approximately 1 in 6 customers leaves — and management does not know who is at risk, why they leave, or how to intervene in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651760"/>
            <a:ext cx="2651760" cy="1920240"/>
          </a:xfrm>
          <a:prstGeom prst="rect">
            <a:avLst/>
          </a:prstGeom>
          <a:solidFill>
            <a:srgbClr val="065A82">
              <a:alpha val="20000"/>
            </a:srgbClr>
          </a:solidFill>
          <a:ln w="1524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2651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Unknown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exists to identify which customers are likely to churn before they actually leave.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2651760"/>
            <a:ext cx="2651760" cy="1920240"/>
          </a:xfrm>
          <a:prstGeom prst="rect">
            <a:avLst/>
          </a:prstGeom>
          <a:solidFill>
            <a:srgbClr val="065A82">
              <a:alpha val="20000"/>
            </a:srgbClr>
          </a:solidFill>
          <a:ln w="1524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2651760"/>
            <a:ext cx="265176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Revenue Loss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31546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churned customer represents lost recurring revenue and increased acquisition cost to replace them.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2651760"/>
            <a:ext cx="2651760" cy="1920240"/>
          </a:xfrm>
          <a:prstGeom prst="rect">
            <a:avLst/>
          </a:prstGeom>
          <a:solidFill>
            <a:srgbClr val="065A82">
              <a:alpha val="20000"/>
            </a:srgbClr>
          </a:solidFill>
          <a:ln w="1524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25896" y="265176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Reactive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31546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efforts only happen after a customer leaves — there is no proactive, data-driven early warning.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can the bank identify at-risk customers early and act before it's too late?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presentation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4864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28016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996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dataset, and objectives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54864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" y="2194560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what we fixed, and features we engineered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54864" cy="7498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3108960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3035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at a Glance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284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KPIs and overall churn 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4023360"/>
            <a:ext cx="420624" cy="42062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" y="3950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428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factors that separate churned from existing customers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1155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115568"/>
            <a:ext cx="54864" cy="7498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18888" y="1280160"/>
            <a:ext cx="420624" cy="420624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18888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49240" y="1207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14996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patterns from exploratory analysis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0299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2029968"/>
            <a:ext cx="54864" cy="74980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18888" y="2194560"/>
            <a:ext cx="420624" cy="420624"/>
          </a:xfrm>
          <a:prstGeom prst="ellipse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18888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49240" y="21214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24140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approach, setup, and performance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9443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2944368"/>
            <a:ext cx="54864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18888" y="310896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18888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49240" y="3035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3284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 with prediction, dashboard, and insights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8587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63440" y="3858768"/>
            <a:ext cx="54864" cy="7498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18888" y="4023360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18888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49240" y="3950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49240" y="42428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actionable strategies ranked by priority and 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2926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is experiencing rising churn in its credit card division — losing ~1 in 6 customers. Management needs to understand why and act proactively.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72968" y="96012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517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1005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10128" y="14173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10,127 customers · 23 features covering demographics, account info, transaction activity, and inactivity metrics. Source: Kaggle Bank Churners.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25896" y="96012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651760" cy="2926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63056" y="1005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63056" y="14173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Identify churn drivers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Answer 7 key business questions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Build an ML prediction model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Deploy an interactive Streamlit 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project: from raw data → cleaning → EDA → ML model → deployed web application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31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We Found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77240" cy="2651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25880" y="1481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/ null values — clean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777240" cy="2651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777240" cy="2651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25880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in Education Level (15%)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777240" cy="2651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70048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25880" y="26883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in Marital Status (7.4%)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777240" cy="2651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072384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25880" y="30906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in Income Category (11%)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777240" cy="2651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25880" y="3493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Credit Limit (IQR ×3)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77056"/>
            <a:ext cx="777240" cy="2651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77056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25880" y="38953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Transaction Amount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79392"/>
            <a:ext cx="777240" cy="2651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25880" y="42976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columns dropped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960120"/>
            <a:ext cx="43434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1051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What We Did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17720" y="1463040"/>
            <a:ext cx="749808" cy="25603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17720" y="1463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58968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"Unknown" retained as its own category — these customers may have distinct churn behavior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2103120"/>
            <a:ext cx="749808" cy="2560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21031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58968" y="20848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CLIENTNUM (random ID) + 2 Naive Bayes leakage columns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2743200"/>
            <a:ext cx="749808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17720" y="27432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58968" y="2724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Education, Income, Card type, Marital status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3383280"/>
            <a:ext cx="749808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17720" y="33832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58968" y="33649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winsorized at IQR×3 — preserves data size, reduces noise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17720" y="4023360"/>
            <a:ext cx="749808" cy="256032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17720" y="4023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58968" y="40050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· Utilization Group · Transaction Frequency per month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from the Bank Churners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" y="1371600"/>
            <a:ext cx="1600200" cy="333756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1371600"/>
            <a:ext cx="16002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1371600"/>
            <a:ext cx="1600200" cy="333756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65960" y="1371600"/>
            <a:ext cx="1600200" cy="640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65960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 customers leave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1371600"/>
            <a:ext cx="1600200" cy="333756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30752" y="1371600"/>
            <a:ext cx="1600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30752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30752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30752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95544" y="1371600"/>
            <a:ext cx="1600200" cy="333756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95544" y="1371600"/>
            <a:ext cx="1600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95544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495544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Transactions / yr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95544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0336" y="1371600"/>
            <a:ext cx="1600200" cy="3337560"/>
          </a:xfrm>
          <a:prstGeom prst="rect">
            <a:avLst/>
          </a:prstGeom>
          <a:solidFill>
            <a:srgbClr val="065A82">
              <a:alpha val="20000"/>
            </a:srgbClr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60336" y="1371600"/>
            <a:ext cx="1600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60336" y="18288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$8,632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60336" y="2697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Credit Limit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0336" y="3246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customers</a:t>
            </a:r>
            <a:endParaRPr lang="en-US" sz="9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200400" y="3794760"/>
          <a:ext cx="27432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churned customers from loyal 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Low Transaction Activity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customers averaged 44 transactions vs 68 for existing — the single strongest predictor of churn.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468880"/>
            <a:ext cx="621792" cy="20116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2468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0" y="1097280"/>
            <a:ext cx="26517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Extended Inactivity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53619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peaks at 4 months inactive (29.9% — nearly 2× the 16% baseline). Notably, 0-month inactive customers also show 51.7% churn, suggesting pre-existing disengagement.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2468880"/>
            <a:ext cx="621792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4 mo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26517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Fewer Products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53619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customers churn at 27%, dropping to ~10% for those holding 5–6 products with the bank.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3840" y="2468880"/>
            <a:ext cx="621792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0" y="2468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→ 10%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26517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Low Income Segment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45643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"Less than $40K" income group has the highest churn rate of all income brackets — financial pressure likely.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94560" y="4389120"/>
            <a:ext cx="621792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94560" y="4389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08960" y="3017520"/>
            <a:ext cx="2651760" cy="54864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Low Credit Limit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345643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had a noticeably lower average credit limit — they may feel underserved by the bank.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4389120"/>
            <a:ext cx="621792" cy="20116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4389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underserved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4360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3017520"/>
            <a:ext cx="2651760" cy="548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3504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High Contact Count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45643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called support 4–5× in 12 months churned at 33%+ — repeated contact signals unresolved issues.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63840" y="4389120"/>
            <a:ext cx="621792" cy="2011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863840" y="4389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churn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Months Inactive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Products Held</a:t>
            </a:r>
            <a:endParaRPr lang="en-US" sz="12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754880" y="109728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Count — Existing vs Attrited</a:t>
            </a:r>
            <a:endParaRPr lang="en-US" sz="12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274320" y="3657600"/>
          <a:ext cx="41148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4754880" y="3337560"/>
            <a:ext cx="4114800" cy="1600200"/>
          </a:xfrm>
          <a:prstGeom prst="rect">
            <a:avLst/>
          </a:prstGeom>
          <a:solidFill>
            <a:srgbClr val="FFF3E0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489204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Pattern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892040" y="37307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0 months inactive have the highest churn rate (51.7%) — likely already disengaged when the period started. Churn dips at 1 month, then rises again peaking at 4 months (29.9%), confirming that sustained inactivity is a strong churn signal.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— trained to predict customer churn probability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023360" cy="3657600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Why XGBoost?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score across all tested models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 (84% / 16% split) effectively with balanced weights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between features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— suitable for real-time app predictions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built-in for interpretability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17720" y="1261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Metrics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4206240" cy="530352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64008" cy="5303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1819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99.19%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17720" y="2350008"/>
            <a:ext cx="4206240" cy="530352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2350008"/>
            <a:ext cx="64008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3168" y="2478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441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96.84%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3008376"/>
            <a:ext cx="4206240" cy="530352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3008376"/>
            <a:ext cx="64008" cy="5303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3168" y="3136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0998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3666744"/>
            <a:ext cx="4206240" cy="530352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17720" y="3666744"/>
            <a:ext cx="64008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7581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89.85%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17720" y="4325112"/>
            <a:ext cx="4206240" cy="530352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4325112"/>
            <a:ext cx="64008" cy="5303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4453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4416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90.12%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· Stratified K-Fold cross-validation · Balanced class weights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app to explore insights and predict churn for any customer in real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4864" cy="67665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243584"/>
            <a:ext cx="420624" cy="420624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+ 8 interactive Plotly charts covering all key metrics — churn distribution, credit limits, transactions, utilization &amp; more.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83664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54864" cy="6766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" y="2011680"/>
            <a:ext cx="420624" cy="420624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2311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dedicated question pages with dark-themed charts answering specific questions: income, inactivity, card category, products, transactions.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54864" cy="676656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2779776"/>
            <a:ext cx="420624" cy="420624"/>
          </a:xfrm>
          <a:prstGeom prst="ellipse">
            <a:avLst/>
          </a:prstGeom>
          <a:solidFill>
            <a:srgbClr val="6A0572">
              <a:alpha val="20000"/>
            </a:srgbClr>
          </a:solidFill>
          <a:ln w="12700">
            <a:solidFill>
              <a:srgbClr val="6A057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any customer's data across 19 features and get an instant churn probability with risk level (Low / Medium / High) + gauge chart.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419856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419856"/>
            <a:ext cx="54864" cy="6766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3547872"/>
            <a:ext cx="420624" cy="420624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767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priority-ranked recommendations, composite risk scoring for all customers, and a strategic action table.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187952"/>
            <a:ext cx="8503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4187952"/>
            <a:ext cx="54864" cy="6766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" y="4315968"/>
            <a:ext cx="420624" cy="420624"/>
          </a:xfrm>
          <a:prstGeom prst="ellipse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ℹ️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45354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details, dataset overview, performance metrics, use cases, and data privacy statement.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" cy="87782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024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75488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Decline Alerts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538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early-warning when a customer's monthly transaction count drops 2+ months in a row. Estimated ~20% churn reduction.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54864" cy="87782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Inactive 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459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offer after 2 months of inactivity — cashback, waived fees, or upgrade offer. Estimated ~15% reduction.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54864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5488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Additional Products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with only 1–2 products. Multi-product holders churn at &lt;10% vs 27% for single-product.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54864" cy="8778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4041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5488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 Increases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471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raise limits for loyal customers below median. Low limit is strongly associated with churn.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54864" cy="87782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18888" y="1024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QUICK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18888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Loyalty Program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14538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rewards (cashback, zero fees) for the &lt;$40K income bracket — highest churn rate segment.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96596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965960"/>
            <a:ext cx="54864" cy="87782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QUICK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18888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Upgrade Pathway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18888" y="2459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engaged Blue card power users and offer Silver/Gold upgrade — increases perceived value and loyalty.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971800"/>
            <a:ext cx="41605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2971800"/>
            <a:ext cx="54864" cy="8778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18888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QUICK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18888" y="32186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Repeat Contacts Faster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contacting support 4+ times per year churn at 33%+. Faster resolution = lower churn signal.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EC4B6">
              <a:alpha val="35000"/>
            </a:srgbClr>
          </a:solidFill>
          <a:ln w="12700">
            <a:solidFill>
              <a:srgbClr val="2EC4B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828800" cy="1645920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331720"/>
            <a:ext cx="1828800" cy="1645920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charts generated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1828800" cy="1645920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99.19%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model accuracy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2331720"/>
            <a:ext cx="1828800" cy="1645920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852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084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now has the tools to identify at-risk customers before they leave,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they leave, and act with targeted, evidence-based retention strategies.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1258</Words>
  <Application>Microsoft Office PowerPoint</Application>
  <PresentationFormat>On-screen Show (16:9)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Analysis</dc:title>
  <dc:subject>PptxGenJS Presentation</dc:subject>
  <dc:creator>PptxGenJS</dc:creator>
  <cp:lastModifiedBy>shaimaa hesham</cp:lastModifiedBy>
  <cp:revision>2</cp:revision>
  <dcterms:created xsi:type="dcterms:W3CDTF">2026-04-19T19:15:17Z</dcterms:created>
  <dcterms:modified xsi:type="dcterms:W3CDTF">2026-04-19T21:06:30Z</dcterms:modified>
</cp:coreProperties>
</file>